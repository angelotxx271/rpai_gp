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2-minute script. 0:00 User: any final-year IE student doing the TFG. Problem: they work for weeks or months, mostly with a general AI, and find out late that the work no longer fits the scope or requirements of their topic. Five supervisor meetings in six months, everything in between is unsupervised. 0:35 Product goal: enable them to realise it while working between meetings, so they don't lose weeks and deliver on time. 0:50 Riskiest assumption: they will use a university-proposed tool instead of their AI of choice. IE approval is a gate; adoption is the risk that survives the gate. 1:05 Sprint goal: learn whether that substitution holds. 1:15 Smallest test: Wizard of Oz with 10 classmates, a real TFG task, their own AI on the table, we answer behind the curtain from the official guidelines. Metric: how many finish in the copilot without opening their AI. Threshold 6 of 10, committed before the test. Decision: continue with a working slice, or change to a complement and rerun. Evidence strength MEDIUM. 1:45 Still unsupported: that drift is real (experience only), IE backing, and anything beyond one session. Cheaper test we rejected: interviews, because they can't observe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reviewing team will ask: what is still unsupported (right column, bottom) and what cheaper test could challenge it (interviews: cheaper, but they cannot observe the switch; a fake door: clicks are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7772400" cy="548640"/>
          </a:xfrm>
          <a:prstGeom prst="rect">
            <a:avLst/>
          </a:prstGeom>
          <a:noFill/>
          <a:ln/>
        </p:spPr>
        <p:txBody>
          <a:bodyPr wrap="square" lIns="0" tIns="0" rIns="0" bIns="0" rtlCol="0" anchor="ctr"/>
          <a:lstStyle/>
          <a:p>
            <a:pPr indent="0" marL="0">
              <a:buNone/>
            </a:pPr>
            <a:r>
              <a:rPr lang="en-US" sz="3000" b="1" dirty="0">
                <a:solidFill>
                  <a:srgbClr val="1F3A2E"/>
                </a:solidFill>
                <a:latin typeface="Cambria" pitchFamily="34" charset="0"/>
                <a:ea typeface="Cambria" pitchFamily="34" charset="-122"/>
                <a:cs typeface="Cambria" pitchFamily="34" charset="-120"/>
              </a:rPr>
              <a:t>Venture Skeleton v0</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TFG Copilot · final-year IE students · Rapid Prototyping with AI · Session 5</a:t>
            </a:r>
            <a:endParaRPr lang="en-US" sz="1200" dirty="0"/>
          </a:p>
        </p:txBody>
      </p:sp>
      <p:sp>
        <p:nvSpPr>
          <p:cNvPr id="4" name="Text 2"/>
          <p:cNvSpPr txBox="1"/>
          <p:nvPr/>
        </p:nvSpPr>
        <p:spPr>
          <a:xfrm>
            <a:off x="8778240" y="868680"/>
            <a:ext cx="2971800" cy="320040"/>
          </a:xfrm>
          <a:prstGeom prst="rect">
            <a:avLst/>
          </a:prstGeom>
          <a:noFill/>
          <a:ln/>
        </p:spPr>
        <p:txBody>
          <a:bodyPr wrap="square" lIns="0" tIns="0" rIns="0" bIns="0" rtlCol="0" anchor="ctr"/>
          <a:lstStyle/>
          <a:p>
            <a:pPr algn="r" indent="0" marL="0">
              <a:buNone/>
            </a:pPr>
            <a:r>
              <a:rPr lang="en-US" sz="1100" b="1" dirty="0">
                <a:solidFill>
                  <a:srgbClr val="1F3A2E"/>
                </a:solidFill>
                <a:latin typeface="Calibri" pitchFamily="34" charset="0"/>
                <a:ea typeface="Calibri" pitchFamily="34" charset="-122"/>
                <a:cs typeface="Calibri" pitchFamily="34" charset="-120"/>
              </a:rPr>
              <a:t>Every row opens a file. </a:t>
            </a:r>
            <a:pPr algn="r" indent="0" marL="0">
              <a:buNone/>
            </a:pPr>
            <a:r>
              <a:rPr lang="en-US" sz="1100" dirty="0">
                <a:solidFill>
                  <a:srgbClr val="5B6B62"/>
                </a:solidFill>
                <a:latin typeface="Calibri" pitchFamily="34" charset="0"/>
                <a:ea typeface="Calibri" pitchFamily="34" charset="-122"/>
                <a:cs typeface="Calibri" pitchFamily="34" charset="-120"/>
              </a:rPr>
              <a:t>Riskiest row highlighted.</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691640"/>
                <a:gridCol w="8028432"/>
                <a:gridCol w="155448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Confirmed content</a:t>
                      </a:r>
                      <a:endParaRPr lang="en-US" sz="110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 file</a:t>
                      </a:r>
                      <a:endParaRPr lang="en-US" sz="110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1F3A2E"/>
                    </a:solidFill>
                  </a:tcPr>
                </a:tc>
              </a:tr>
              <a:tr h="38404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Target user</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Final-year IE students doing their TFG, any degree</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opportunity.md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Problem</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They spend weeks or months of work before detecting that it no longer fulfils the requirements or scope of their topic, at any stage of the process, hurting the process or delivery on time</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opportunity.md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Product Goal</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Enable them to realise when their TFG stops fulfilling its requirements or scope while working between supervisor meetings, so that they don't lose weeks or months and deliver on time</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goals.md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Riskiest assumption</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D6F27A"/>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Students will use it instead of their AI of choice. IE approval is a gate; adoption is the risk that survives the gate</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D6F27A"/>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assumptions.md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D6F27A"/>
                    </a:solidFill>
                  </a:tcPr>
                </a:tc>
              </a:tr>
              <a:tr h="56692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Sprint Goal</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Learn whether they would use a university-proposed tool for their TFG instead of their AI of choice, and actively engage with it, strongly enough to guide the next decision</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goals.md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Smallest test</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Wizard of Oz: 10 final-year classmates do a real TFG task (topic fit, structure, dates) in a chat loaded with their topic and the IE guidelines, answers produced behind the curtain, their own AI available; we observe whether they switch</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experiment-card.md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1F3A2E"/>
                          </a:solidFill>
                          <a:latin typeface="Calibri" pitchFamily="34" charset="0"/>
                          <a:ea typeface="Calibri" pitchFamily="34" charset="-122"/>
                          <a:cs typeface="Calibri" pitchFamily="34" charset="-120"/>
                        </a:rPr>
                        <a:t>Decision rule</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Metric: students who complete the task in the copilot without opening their own AI, out of 10. Threshold ≥ 6, committed. Met → CONTINUE, build a working slice. Missed → CHANGE, reframe as a complement alongside their AI and rerun</a:t>
                      </a:r>
                      <a:endParaRPr lang="en-US" sz="1050" dirty="0">
                        <a:latin typeface="Calibri" charset="0"/>
                        <a:ea typeface="Calibri" charset="0"/>
                        <a:cs typeface="Calibri"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950" dirty="0">
                          <a:solidFill>
                            <a:srgbClr val="5B6B62"/>
                          </a:solidFill>
                          <a:latin typeface="Courier New" pitchFamily="34" charset="0"/>
                          <a:ea typeface="Courier New" pitchFamily="34" charset="-122"/>
                          <a:cs typeface="Courier New" pitchFamily="34" charset="-120"/>
                        </a:rPr>
                        <a:t>experiment-card.md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263640"/>
            <a:ext cx="11274552" cy="27432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Evidence strength: MEDIUM   ·   AI traceability: ai-usage-log.md (5 rows)   ·   Test access: recruitment.md   ·   Rough test: prototype-v0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7315200" cy="548640"/>
          </a:xfrm>
          <a:prstGeom prst="rect">
            <a:avLst/>
          </a:prstGeom>
          <a:noFill/>
          <a:ln/>
        </p:spPr>
        <p:txBody>
          <a:bodyPr wrap="square" lIns="0" tIns="0" rIns="0" bIns="0" rtlCol="0" anchor="ctr"/>
          <a:lstStyle/>
          <a:p>
            <a:pPr indent="0" marL="0">
              <a:buNone/>
            </a:pPr>
            <a:r>
              <a:rPr lang="en-US" sz="3000" b="1" dirty="0">
                <a:solidFill>
                  <a:srgbClr val="1F3A2E"/>
                </a:solidFill>
                <a:latin typeface="Cambria" pitchFamily="34" charset="0"/>
                <a:ea typeface="Cambria" pitchFamily="34" charset="-122"/>
                <a:cs typeface="Cambria" pitchFamily="34" charset="-120"/>
              </a:rPr>
              <a:t>Rough test · prototype-v0</a:t>
            </a:r>
            <a:endParaRPr lang="en-US" sz="30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Wizard of Oz. What the student sees; a person answers behind it from the IE TFG guidelines.</a:t>
            </a:r>
            <a:endParaRPr lang="en-US" sz="1200" dirty="0"/>
          </a:p>
        </p:txBody>
      </p:sp>
      <p:pic>
        <p:nvPicPr>
          <p:cNvPr id="4" name="Image 0" descr="preencoded.png">    </p:cNvPr>
          <p:cNvPicPr>
            <a:picLocks noChangeAspect="1"/>
          </p:cNvPicPr>
          <p:nvPr/>
        </p:nvPicPr>
        <p:blipFill>
          <a:blip r:embed="rId1"/>
          <a:stretch>
            <a:fillRect/>
          </a:stretch>
        </p:blipFill>
        <p:spPr>
          <a:xfrm>
            <a:off x="457200" y="1325880"/>
            <a:ext cx="5669280" cy="5027179"/>
          </a:xfrm>
          <a:prstGeom prst="rect">
            <a:avLst/>
          </a:prstGeom>
        </p:spPr>
      </p:pic>
      <p:sp>
        <p:nvSpPr>
          <p:cNvPr id="5" name="Text 2"/>
          <p:cNvSpPr txBox="1"/>
          <p:nvPr/>
        </p:nvSpPr>
        <p:spPr>
          <a:xfrm>
            <a:off x="457200" y="6444499"/>
            <a:ext cx="5669280" cy="457200"/>
          </a:xfrm>
          <a:prstGeom prst="rect">
            <a:avLst/>
          </a:prstGeom>
          <a:noFill/>
          <a:ln/>
        </p:spPr>
        <p:txBody>
          <a:bodyPr wrap="square" lIns="0" tIns="0" rIns="0" bIns="0" rtlCol="0" anchor="ctr"/>
          <a:lstStyle/>
          <a:p>
            <a:pPr indent="0" marL="0">
              <a:buNone/>
            </a:pPr>
            <a:r>
              <a:rPr lang="en-US" sz="950" dirty="0">
                <a:solidFill>
                  <a:srgbClr val="5B6B62"/>
                </a:solidFill>
                <a:latin typeface="Calibri" pitchFamily="34" charset="0"/>
                <a:ea typeface="Calibri" pitchFamily="34" charset="-122"/>
                <a:cs typeface="Calibri" pitchFamily="34" charset="-120"/>
              </a:rPr>
              <a:t>Runs next week as a chat window the student types into while a teammate answers from another device. Backup: prototype-v0-backup.png.</a:t>
            </a:r>
            <a:endParaRPr lang="en-US" sz="950" dirty="0"/>
          </a:p>
        </p:txBody>
      </p:sp>
      <p:sp>
        <p:nvSpPr>
          <p:cNvPr id="6" name="Shape 3"/>
          <p:cNvSpPr/>
          <p:nvPr/>
        </p:nvSpPr>
        <p:spPr>
          <a:xfrm>
            <a:off x="6492240" y="1325880"/>
            <a:ext cx="5239512" cy="1417320"/>
          </a:xfrm>
          <a:prstGeom prst="roundRect">
            <a:avLst>
              <a:gd name="adj" fmla="val 5161"/>
            </a:avLst>
          </a:prstGeom>
          <a:solidFill>
            <a:srgbClr val="F1F5F0"/>
          </a:solidFill>
          <a:ln w="6350">
            <a:solidFill>
              <a:srgbClr val="C9D3CC"/>
            </a:solidFill>
            <a:prstDash val="solid"/>
          </a:ln>
        </p:spPr>
      </p:sp>
      <p:sp>
        <p:nvSpPr>
          <p:cNvPr id="7" name="Text 4"/>
          <p:cNvSpPr txBox="1"/>
          <p:nvPr/>
        </p:nvSpPr>
        <p:spPr>
          <a:xfrm>
            <a:off x="6675120" y="1417320"/>
            <a:ext cx="4873752" cy="292608"/>
          </a:xfrm>
          <a:prstGeom prst="rect">
            <a:avLst/>
          </a:prstGeom>
          <a:noFill/>
          <a:ln/>
        </p:spPr>
        <p:txBody>
          <a:bodyPr wrap="square" lIns="0" tIns="0" rIns="0" bIns="0" rtlCol="0" anchor="ctr"/>
          <a:lstStyle/>
          <a:p>
            <a:pPr indent="0" marL="0">
              <a:buNone/>
            </a:pPr>
            <a:r>
              <a:rPr lang="en-US" sz="1400" b="1" dirty="0">
                <a:solidFill>
                  <a:srgbClr val="1F3A2E"/>
                </a:solidFill>
                <a:latin typeface="Cambria" pitchFamily="34" charset="0"/>
                <a:ea typeface="Cambria" pitchFamily="34" charset="-122"/>
                <a:cs typeface="Cambria" pitchFamily="34" charset="-120"/>
              </a:rPr>
              <a:t>What we watch</a:t>
            </a:r>
            <a:endParaRPr lang="en-US" sz="1400" dirty="0"/>
          </a:p>
        </p:txBody>
      </p:sp>
      <p:sp>
        <p:nvSpPr>
          <p:cNvPr id="8" name="Text 5"/>
          <p:cNvSpPr txBox="1"/>
          <p:nvPr/>
        </p:nvSpPr>
        <p:spPr>
          <a:xfrm>
            <a:off x="6675120" y="1737360"/>
            <a:ext cx="4873752" cy="914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Metric: students who complete the task in the copilot without opening their own AI, count out of 10</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Threshold ≥ 6 of 10, committed. Met → CONTINUE (working slice). Missed → CHANGE (complement, rerun)</a:t>
            </a:r>
            <a:endParaRPr lang="en-US" sz="1050" dirty="0"/>
          </a:p>
        </p:txBody>
      </p:sp>
      <p:sp>
        <p:nvSpPr>
          <p:cNvPr id="9" name="Shape 6"/>
          <p:cNvSpPr/>
          <p:nvPr/>
        </p:nvSpPr>
        <p:spPr>
          <a:xfrm>
            <a:off x="6492240" y="2880360"/>
            <a:ext cx="5239512" cy="1691640"/>
          </a:xfrm>
          <a:prstGeom prst="roundRect">
            <a:avLst>
              <a:gd name="adj" fmla="val 4324"/>
            </a:avLst>
          </a:prstGeom>
          <a:solidFill>
            <a:srgbClr val="F1F5F0"/>
          </a:solidFill>
          <a:ln w="6350">
            <a:solidFill>
              <a:srgbClr val="C9D3CC"/>
            </a:solidFill>
            <a:prstDash val="solid"/>
          </a:ln>
        </p:spPr>
      </p:sp>
      <p:sp>
        <p:nvSpPr>
          <p:cNvPr id="10" name="Text 7"/>
          <p:cNvSpPr txBox="1"/>
          <p:nvPr/>
        </p:nvSpPr>
        <p:spPr>
          <a:xfrm>
            <a:off x="6675120" y="2971800"/>
            <a:ext cx="4873752" cy="292608"/>
          </a:xfrm>
          <a:prstGeom prst="rect">
            <a:avLst/>
          </a:prstGeom>
          <a:noFill/>
          <a:ln/>
        </p:spPr>
        <p:txBody>
          <a:bodyPr wrap="square" lIns="0" tIns="0" rIns="0" bIns="0" rtlCol="0" anchor="ctr"/>
          <a:lstStyle/>
          <a:p>
            <a:pPr indent="0" marL="0">
              <a:buNone/>
            </a:pPr>
            <a:r>
              <a:rPr lang="en-US" sz="1400" b="1" dirty="0">
                <a:solidFill>
                  <a:srgbClr val="1F3A2E"/>
                </a:solidFill>
                <a:latin typeface="Cambria" pitchFamily="34" charset="0"/>
                <a:ea typeface="Cambria" pitchFamily="34" charset="-122"/>
                <a:cs typeface="Cambria" pitchFamily="34" charset="-120"/>
              </a:rPr>
              <a:t>Intentionally excluded</a:t>
            </a:r>
            <a:endParaRPr lang="en-US" sz="1400" dirty="0"/>
          </a:p>
        </p:txBody>
      </p:sp>
      <p:sp>
        <p:nvSpPr>
          <p:cNvPr id="11" name="Text 8"/>
          <p:cNvSpPr txBox="1"/>
          <p:nvPr/>
        </p:nvSpPr>
        <p:spPr>
          <a:xfrm>
            <a:off x="6675120" y="3291840"/>
            <a:ext cx="4873752" cy="11887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No automation behind the chat, no memory across sessions</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No thesis writing, no grading, no approval, no supervisor view</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No login, no IE integration, nothing stored after the session</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Only three task types: topic fit, structure and format, dates</a:t>
            </a:r>
            <a:endParaRPr lang="en-US" sz="1050" dirty="0"/>
          </a:p>
        </p:txBody>
      </p:sp>
      <p:sp>
        <p:nvSpPr>
          <p:cNvPr id="12" name="Shape 9"/>
          <p:cNvSpPr/>
          <p:nvPr/>
        </p:nvSpPr>
        <p:spPr>
          <a:xfrm>
            <a:off x="6492240" y="4709160"/>
            <a:ext cx="5239512" cy="1463040"/>
          </a:xfrm>
          <a:prstGeom prst="roundRect">
            <a:avLst>
              <a:gd name="adj" fmla="val 5000"/>
            </a:avLst>
          </a:prstGeom>
          <a:solidFill>
            <a:srgbClr val="F1F5F0"/>
          </a:solidFill>
          <a:ln w="6350">
            <a:solidFill>
              <a:srgbClr val="C9D3CC"/>
            </a:solidFill>
            <a:prstDash val="solid"/>
          </a:ln>
        </p:spPr>
      </p:sp>
      <p:sp>
        <p:nvSpPr>
          <p:cNvPr id="13" name="Text 10"/>
          <p:cNvSpPr txBox="1"/>
          <p:nvPr/>
        </p:nvSpPr>
        <p:spPr>
          <a:xfrm>
            <a:off x="6675120" y="4800600"/>
            <a:ext cx="4873752" cy="292608"/>
          </a:xfrm>
          <a:prstGeom prst="rect">
            <a:avLst/>
          </a:prstGeom>
          <a:noFill/>
          <a:ln/>
        </p:spPr>
        <p:txBody>
          <a:bodyPr wrap="square" lIns="0" tIns="0" rIns="0" bIns="0" rtlCol="0" anchor="ctr"/>
          <a:lstStyle/>
          <a:p>
            <a:pPr indent="0" marL="0">
              <a:buNone/>
            </a:pPr>
            <a:r>
              <a:rPr lang="en-US" sz="1400" b="1" dirty="0">
                <a:solidFill>
                  <a:srgbClr val="1F3A2E"/>
                </a:solidFill>
                <a:latin typeface="Cambria" pitchFamily="34" charset="0"/>
                <a:ea typeface="Cambria" pitchFamily="34" charset="-122"/>
                <a:cs typeface="Cambria" pitchFamily="34" charset="-120"/>
              </a:rPr>
              <a:t>Still unsupported</a:t>
            </a:r>
            <a:endParaRPr lang="en-US" sz="1400" dirty="0"/>
          </a:p>
        </p:txBody>
      </p:sp>
      <p:sp>
        <p:nvSpPr>
          <p:cNvPr id="14" name="Text 11"/>
          <p:cNvSpPr txBox="1"/>
          <p:nvPr/>
        </p:nvSpPr>
        <p:spPr>
          <a:xfrm>
            <a:off x="6675120" y="5120640"/>
            <a:ext cx="4873752" cy="9601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That drift is real and detected late: assumed from experience, not evidenced yet</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Everything in IE backing (Area 3)</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Substitution beyond one session, which is why evidence strength is MEDIUM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 Skeleton v0 · TFG Copilot</dc:title>
  <dc:subject>PptxGenJS Presentation</dc:subject>
  <dc:creator>PptxGenJS</dc:creator>
  <cp:lastModifiedBy>PptxGenJS</cp:lastModifiedBy>
  <cp:revision>1</cp:revision>
  <dcterms:created xsi:type="dcterms:W3CDTF">2026-09-09T15:01:11Z</dcterms:created>
  <dcterms:modified xsi:type="dcterms:W3CDTF">2026-09-09T15:01:11Z</dcterms:modified>
</cp:coreProperties>
</file>